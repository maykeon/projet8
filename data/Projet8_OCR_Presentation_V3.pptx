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Hommes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40.6</c:v>
                </c:pt>
                <c:pt idx="1">
                  <c:v>44.6</c:v>
                </c:pt>
                <c:pt idx="2">
                  <c:v>64.4</c:v>
                </c:pt>
                <c:pt idx="3">
                  <c:v>62.7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Femmes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17.8</c:v>
                </c:pt>
                <c:pt idx="1">
                  <c:v>21.5</c:v>
                </c:pt>
                <c:pt idx="2">
                  <c:v>25.5</c:v>
                </c:pt>
                <c:pt idx="3">
                  <c:v>30.6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renseigné (%)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41.6</c:v>
                </c:pt>
                <c:pt idx="1">
                  <c:v>33.9</c:v>
                </c:pt>
                <c:pt idx="2">
                  <c:v>10.1</c:v>
                </c:pt>
                <c:pt idx="3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25–29 ans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14.7</c:v>
                </c:pt>
                <c:pt idx="1">
                  <c:v>21.5</c:v>
                </c:pt>
                <c:pt idx="2">
                  <c:v>25.1</c:v>
                </c:pt>
                <c:pt idx="3">
                  <c:v>21.2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30–34 ans</c:v>
                </c:pt>
              </c:strCache>
            </c:strRef>
          </c:tx>
          <c:spPr>
            <a:solidFill>
              <a:srgbClr val="1B2A4A"/>
            </a:solidFill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27.1</c:v>
                </c:pt>
                <c:pt idx="1">
                  <c:v>27.6</c:v>
                </c:pt>
                <c:pt idx="2">
                  <c:v>22</c:v>
                </c:pt>
                <c:pt idx="3">
                  <c:v>23.3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35–39 ans</c:v>
                </c:pt>
              </c:strCache>
            </c:strRef>
          </c:tx>
          <c:spPr>
            <a:solidFill>
              <a:srgbClr val="6366F1"/>
            </a:solidFill>
            <a:ln w="3175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19.8</c:v>
                </c:pt>
                <c:pt idx="1">
                  <c:v>16.8</c:v>
                </c:pt>
                <c:pt idx="2">
                  <c:v>18.5</c:v>
                </c:pt>
                <c:pt idx="3">
                  <c:v>18.6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40–44 ans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15.8</c:v>
                </c:pt>
                <c:pt idx="1">
                  <c:v>13</c:v>
                </c:pt>
                <c:pt idx="2">
                  <c:v>11.2</c:v>
                </c:pt>
                <c:pt idx="3">
                  <c:v>10.2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20–24 ans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</c:v>
                </c:pt>
                <c:pt idx="1">
                  <c:v>2.4</c:v>
                </c:pt>
                <c:pt idx="2">
                  <c:v>7.1</c:v>
                </c:pt>
                <c:pt idx="3">
                  <c:v>8.5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Île-de-France</c:v>
                  </c:pt>
                  <c:pt idx="1">
                    <c:v>Auvergne-Rhône-Alpes</c:v>
                  </c:pt>
                  <c:pt idx="2">
                    <c:v>Hauts-de-France</c:v>
                  </c:pt>
                  <c:pt idx="3">
                    <c:v>Nouvelle-Aquitaine</c:v>
                  </c:pt>
                  <c:pt idx="4">
                    <c:v>Provence-Alpes-Côte d'Azur</c:v>
                  </c:pt>
                  <c:pt idx="5">
                    <c:v>Occitanie</c:v>
                  </c:pt>
                  <c:pt idx="6">
                    <c:v>Grand Est</c:v>
                  </c:pt>
                  <c:pt idx="7">
                    <c:v>Pays de la Loire</c:v>
                  </c:pt>
                  <c:pt idx="8">
                    <c:v>Bretagne</c:v>
                  </c:pt>
                  <c:pt idx="9">
                    <c:v>Centre-Val de Loire</c:v>
                  </c:pt>
                  <c:pt idx="10">
                    <c:v>Normandie</c:v>
                  </c:pt>
                  <c:pt idx="11">
                    <c:v>Bourgogne-Franche-Comté</c:v>
                  </c:pt>
                  <c:pt idx="12">
                    <c:v>DROM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2120</c:v>
                </c:pt>
                <c:pt idx="1">
                  <c:v>435</c:v>
                </c:pt>
                <c:pt idx="2">
                  <c:v>300</c:v>
                </c:pt>
                <c:pt idx="3">
                  <c:v>296</c:v>
                </c:pt>
                <c:pt idx="4">
                  <c:v>295</c:v>
                </c:pt>
                <c:pt idx="5">
                  <c:v>287</c:v>
                </c:pt>
                <c:pt idx="6">
                  <c:v>256</c:v>
                </c:pt>
                <c:pt idx="7">
                  <c:v>159</c:v>
                </c:pt>
                <c:pt idx="8">
                  <c:v>139</c:v>
                </c:pt>
                <c:pt idx="9">
                  <c:v>122</c:v>
                </c:pt>
                <c:pt idx="10">
                  <c:v>114</c:v>
                </c:pt>
                <c:pt idx="11">
                  <c:v>78</c:v>
                </c:pt>
                <c:pt idx="12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Nouveaux 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1696</c:v>
                </c:pt>
                <c:pt idx="1">
                  <c:v>932</c:v>
                </c:pt>
                <c:pt idx="2">
                  <c:v>655</c:v>
                </c:pt>
                <c:pt idx="3">
                  <c:v>727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Étudiants de retour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218</c:v>
                </c:pt>
                <c:pt idx="2">
                  <c:v>195</c:v>
                </c:pt>
                <c:pt idx="3">
                  <c:v>224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/ 100k hab.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IDF · 30–34 ans · H</c:v>
                  </c:pt>
                  <c:pt idx="1">
                    <c:v>IDF · 25–29 ans · H</c:v>
                  </c:pt>
                  <c:pt idx="2">
                    <c:v>IDF · 35–39 ans · H</c:v>
                  </c:pt>
                  <c:pt idx="3">
                    <c:v>PACA · 30–34 ans · H</c:v>
                  </c:pt>
                  <c:pt idx="4">
                    <c:v>IDF · 40–44 ans · H</c:v>
                  </c:pt>
                  <c:pt idx="5">
                    <c:v>IDF · 30–34 ans · F</c:v>
                  </c:pt>
                  <c:pt idx="6">
                    <c:v>Nouvelle-Aq. · 30–34H</c:v>
                  </c:pt>
                  <c:pt idx="7">
                    <c:v>IDF · 30–34 NR</c:v>
                  </c:pt>
                  <c:pt idx="8">
                    <c:v>Hauts-de-Fr. · 30–34H</c:v>
                  </c:pt>
                  <c:pt idx="9">
                    <c:v>Pays de la Loire · 30–34H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15.58</c:v>
                </c:pt>
                <c:pt idx="1">
                  <c:v>12.5</c:v>
                </c:pt>
                <c:pt idx="2">
                  <c:v>12.2</c:v>
                </c:pt>
                <c:pt idx="3">
                  <c:v>10.28</c:v>
                </c:pt>
                <c:pt idx="4">
                  <c:v>9.99</c:v>
                </c:pt>
                <c:pt idx="5">
                  <c:v>9.63</c:v>
                </c:pt>
                <c:pt idx="6">
                  <c:v>7.82</c:v>
                </c:pt>
                <c:pt idx="7">
                  <c:v>7.59</c:v>
                </c:pt>
                <c:pt idx="8">
                  <c:v>7.36</c:v>
                </c:pt>
                <c:pt idx="9">
                  <c:v>6.87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l'évolution du profil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sociodémographique des étudiants Data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OpenClassrooms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8 — Certification Data Analyst OCR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dbt · Snowflake · Données INSEE · 2022–2025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Yukel Monfray · Juin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Mission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Marie-Neige (manager) a demandé une analyse rétrospective du profil sociodémographique des étudiants du parcours Data Analyst.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qualité des données et leur conformité RGPD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les tables nécessaires à l'analyse via dbt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avec des données publiques INSEE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analyse des tendances 2022–2025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65760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Champ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Détail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Étudiants bruts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4 647 lignes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Étudiants uniques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4 010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Doublons (multi-ans)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637 (13,7%)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Période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2022–2025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Colonnes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USER_ID, AGE_GROUP,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GENDER, REGION,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YEAR_PATH_STARTED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Genre manquant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~27% → 'Non renseigné'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dbt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19656"/>
            <a:ext cx="16002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196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276856"/>
            <a:ext cx="1600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2350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students_raw.csv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27340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estim-pop-dep-sexe-aq.xls (INSEE)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6517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11680" y="1819656"/>
            <a:ext cx="1600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8196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276856"/>
            <a:ext cx="1600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2350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students_raw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7340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insee_population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26517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49040" y="1819656"/>
            <a:ext cx="1600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8196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276856"/>
            <a:ext cx="1600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22192" y="2350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stg_students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22192" y="27340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stg_insee_population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26517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0" y="2011680"/>
            <a:ext cx="1600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468880"/>
            <a:ext cx="1600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59552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int_students_by_year_region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26517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223760" y="1627632"/>
            <a:ext cx="16002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2084832"/>
            <a:ext cx="160020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96912" y="21579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mart_student_detail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96912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mart_demographic_evolution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2926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mart_insee_context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Vue: non matérialisée   |   Table: matérialisée dans Snowflake   |   dbt-fusion v2.0 · Snowflake PROJET8OCR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Qualité des données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pseudonymisé — identifiant technique uniquement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nominative, adresse ou contact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manquant → 'Non renseigné' (pas d'imputation)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colonnes nécessaires à l'analyse sont conservées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Déduplication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doublons détectés dans les données brutes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: 0 doublons sur la même année → données longitudinales légitimes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conserver 1 ligne par étudiant × année (4 647 lignes finales)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: parcours 'Data' uniquement, années 2022–2025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dbt — 22 tests · 22/22 réussis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290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950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342900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3429000"/>
            <a:ext cx="64008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0" y="3950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429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3950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429000"/>
            <a:ext cx="1965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3429000"/>
            <a:ext cx="64008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3950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uniqueness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× année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données INSEE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INSEE — Estimations de population par région, sexe et âge quinquennal (2022–2023)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prepare_insee_seed.py 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XLS → agrégation département → région → pivot long format → seed CSV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LEFT JOIN sur 4 clés 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× région × tranche d'âge × genre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produit 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d'inscription = 100 000 × inscrits / population du groupe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051560"/>
            <a:ext cx="3017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documentées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572768"/>
            <a:ext cx="26974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572768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18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47,7% lignes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population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 total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2377440"/>
            <a:ext cx="26974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37744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7249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INSEE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publiées (395)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3182112"/>
            <a:ext cx="26974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3182112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227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'Non renseigné'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52958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normalisé sur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 totale M+F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3986784"/>
            <a:ext cx="26974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3986784"/>
            <a:ext cx="54864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0325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433425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métropolitain (16)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 — Vue d'ensemble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4688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4 647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032711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2022–2025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(données longitudinales)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4688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032711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uniques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(après déduplication)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43000"/>
            <a:ext cx="24688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2032711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multi-années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(données longitudinales)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24688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~19–24%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3952951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rétention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(2023–2025)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64008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63240"/>
            <a:ext cx="24688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37560" y="3952951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inscrits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Île-de-France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7180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63240"/>
            <a:ext cx="24688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30–34 ans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952951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d'âge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(toutes années)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genre 2022–2025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2926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508760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Part féminine : +12,8 pts en 4 ans (17,8% → 30,6%)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2313432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3591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 Genre non renseigné : -34,9 pts (41,6% → 6,7%)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118104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1B2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1638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collecte du genre s'améliore significativement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922776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39684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2024–2025 : données plus complètes, profil plus lisible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par tranche d'âge 2022–2025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560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clés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508760"/>
            <a:ext cx="219456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1B2A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1508760"/>
            <a:ext cx="457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554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30–34 ans reste le groupe dominant sur toute la période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2313432"/>
            <a:ext cx="219456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313432"/>
            <a:ext cx="457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359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 ans : forte progression (+7,3 pts) — rajeunissement visible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3118104"/>
            <a:ext cx="219456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3118104"/>
            <a:ext cx="45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1638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25–29 ans : pic en 2024 (+10,4 pts vs 2022)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3922776"/>
            <a:ext cx="219456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3922776"/>
            <a:ext cx="457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39684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ans : légère érosion — profil se rajeunit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géographique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2926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508760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inscrits en IDF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(surreprésentation notable)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313432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régions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26480" y="26151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partagent 50% restants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118104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INSEE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34198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30–34H : 15,6/100k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moyenne nationale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3922776"/>
            <a:ext cx="256032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26480" y="4224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partielle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(hors périmètre INSEE)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&amp; données longitudinales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1280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64008" cy="1554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097280"/>
            <a:ext cx="1097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89320" y="1907438"/>
            <a:ext cx="1097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année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référence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69480" y="1005840"/>
            <a:ext cx="1280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69480" y="100584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0" y="1097280"/>
            <a:ext cx="1097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06640" y="1907438"/>
            <a:ext cx="1097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étudiants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retour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743200"/>
            <a:ext cx="1280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743200"/>
            <a:ext cx="64008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34640"/>
            <a:ext cx="1097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989320" y="3644798"/>
            <a:ext cx="1097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étudiants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retour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69480" y="2743200"/>
            <a:ext cx="1280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69480" y="274320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2834640"/>
            <a:ext cx="1097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406640" y="3644798"/>
            <a:ext cx="1097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étudiants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retour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stable autour de 20–24% de rétention depuis 2023 — signal de fidélisation du public.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Contextualisation INSEE — Taux pour 100 000 hab.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15087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groupe : Hommes 30–34 ans en IDF</a:t>
            </a:r>
            <a:endParaRPr lang="en-US" sz="11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 inscrits pour 100 000 habitants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IDF significative même après normalisation par la population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'Non renseigné' normalisé sur population M+F totale (approche conservative)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2024–2025 exclues (INSEE non disponible)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du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37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OCR + XLS INSEE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dossier data/ (.gitignore)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3240" y="19202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9184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6400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d'ingestion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prepare_students_seed.py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prepare_insee_seed.py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920240"/>
            <a:ext cx="2286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dbtf seed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students_raw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insee_population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Snowflake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17520"/>
            <a:ext cx="64008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dbtf run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modèles exécutés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vues staging,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vue intermediate,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 marts)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3886200"/>
            <a:ext cx="2286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91840" y="30175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301752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429000" y="3474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dbtf 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 réussis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886200"/>
            <a:ext cx="228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126480" y="30175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301752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63640" y="3474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exports_results.py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CSV analytiques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Améliorer la collecte du genre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de genre non renseigné en 2022, réduit à 6,7% en 2025. Systématiser la collecte dès l'inscription pour enrichir les analyses futures.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42062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377440"/>
            <a:ext cx="64008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Cibler les régions sous-représentées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normalisation INSEE, plusieurs régions présentent des taux d'inscription faibles. Potentiel de croissance identifié hors IDF.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42062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03320"/>
            <a:ext cx="64008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Exploiter le signal de rétention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stable à ~23% depuis 2023. Analyser le profil des étudiants de retour pour identifier les facteurs de fidélisation.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2062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Intégrer les données INSEE 2024–2025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publication des estimations INSEE, relancer dbtf seed + dbtf run pour couvrir les deux dernières années d'analyse.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42062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774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Rajeunissement du profil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7889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 des 20–24 ans passe de 1,2% à 8,5% entre 2022 et 2025. Tendance à confirmer et à adresser dans la stratégie pédagogique.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2062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0332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Automatiser les mises à jour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est entièrement reproductible. Planifier une exécution annuelle à réception des nouvelles données OCR et INSEE.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&amp; Livrables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56616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dbt-fusion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v2.0.0 — CLI local (dbtf)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PROJET8OCR · COMPUTE_WH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Ingestion scripts (pandas)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Cursor/VS 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IDE + dbt extension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GitHub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MayKeoN/ocr-projet8-dbt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Données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CSV OCR · XLS INSEE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produits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572768"/>
            <a:ext cx="3566160" cy="694944"/>
          </a:xfrm>
          <a:prstGeom prst="rect">
            <a:avLst/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572768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1609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mart_student_detail.csv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1883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4 647 lignes · RGPD compliant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 OCR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2359152"/>
            <a:ext cx="3566160" cy="694944"/>
          </a:xfrm>
          <a:prstGeom prst="rect">
            <a:avLst/>
          </a:prstGeom>
          <a:solidFill>
            <a:srgbClr val="F8FAFC"/>
          </a:solidFill>
          <a:ln w="10160">
            <a:solidFill>
              <a:srgbClr val="1B2A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2359152"/>
            <a:ext cx="54864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dbt documenté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8348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modèles · 22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SQL + RGPD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3145536"/>
            <a:ext cx="3566160" cy="694944"/>
          </a:xfrm>
          <a:prstGeom prst="rect">
            <a:avLst/>
          </a:prstGeom>
          <a:solidFill>
            <a:srgbClr val="F8FAF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3145536"/>
            <a:ext cx="54864" cy="6949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catalog.json + manifest.json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83480" y="3456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dbt générée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dbtf compile --write-catalog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3931920"/>
            <a:ext cx="3566160" cy="694944"/>
          </a:xfrm>
          <a:prstGeom prst="rect">
            <a:avLst/>
          </a:prstGeom>
          <a:solidFill>
            <a:srgbClr val="F8FAF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3931920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(15 slides)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83480" y="4242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+ Analyse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Recommandations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dbt entièrement fonctionnel, documenté et reproductible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22 tests de qualité validés — zéro erreur de données non documentée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Données longitudinales préservées — analyse de rétention rendue possible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Enrichissement INSEE avec taux pour 100 000 habitants par groupe démographique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Profil en rajeunissement, féminisation progressive, forte concentration IDF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Rétention stable à ~23% depuis 2023 — signal de fidélisation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Yukel Monfray · Projet 8 OCR · Juin 2026 · github.com/MayKeoN/ocr-projet8-dbt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Analyse de l'évolution du profil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sociodémographique des étudiants Data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OpenClassrooms  — 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Calibri"/>
              </a:rPr>
              <a:t>Pipeline dbt · Snowflake · INSEE · COG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131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Yukel Monfray  ·  Projet 8  ·  Certification Data Analyst OCR  · 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Mission &amp;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LA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88720"/>
            <a:ext cx="5806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● Marie-Neige (Lead Data Analyst OCR) demande une analyse rétrospective</a:t>
            </a:r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   du profil sociodémographique des étudiants parcours Data (2022–2025).</a:t>
            </a:r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● Objectifs : qualifier les données, structurer un pipeline dbt reproductible,</a:t>
            </a:r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   enrichir avec l'INSEE, livrer des tendances actionnables.</a:t>
            </a:r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● Livrables : CSV consolidé · Workflow dbt commenté ·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768096"/>
            <a:ext cx="2743200" cy="429768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9052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RGPD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89888"/>
            <a:ext cx="2514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>● USER_ID pseudonymisé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>   (aucune donnée nominative)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>● Finalité : analyse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>   sociodémographique agrégée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>● Minimisation : âge, genre,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300" b="0">
                <a:solidFill>
                  <a:srgbClr val="1F4E79"/>
                </a:solidFill>
                <a:latin typeface="Calibri"/>
              </a:rPr>
              <a:t>   région et année seulement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Sources de données &amp; périmètre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68096"/>
            <a:ext cx="2807208" cy="19202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768096"/>
            <a:ext cx="2807208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04672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#1  Dataset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Calibri"/>
              </a:rPr>
              <a:t>4 647 lignes · 6 colonnes
Parcours Data · 2022–2025
USER_ID pseudonymisé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8104" y="768096"/>
            <a:ext cx="2807208" cy="19202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8104" y="768096"/>
            <a:ext cx="2807208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804672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#2  INSEE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132588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Calibri"/>
              </a:rPr>
              <a:t>Fichier xlsx — onglets 2022–2025
Département × sexe × âge quinquennal
1 seed normalisé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68096"/>
            <a:ext cx="2807208" cy="19202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68096"/>
            <a:ext cx="2807208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804672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#3  COG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32588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Calibri"/>
              </a:rPr>
              <a:t>2 CSV référentiels
101 départements · 18 régions
Mapping dept → région pour dbt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816352"/>
            <a:ext cx="8823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DICTIONNAIRE DES COLONNES CLÉS (dataset OCR)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01168" y="3200400"/>
          <a:ext cx="874166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986784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Colonne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Valeurs / exemple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USER_ID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Identifiant technique unique (pseudonymisé)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hash non nominatif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AGE_GROUP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Tranche d'âge au début du parcours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25-29 ans, 30-34 ans…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Genre déclaré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 / F / (vide → 'Non renseigné')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Région de résidence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Île-de-France, DROM…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YEAR_PATH_STARTED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Année de début du parcours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2022 / 2023 / 2024 / 2025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Méthodologie de collecte — du fichier brut à Snowflake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768096"/>
            <a:ext cx="2103120" cy="26060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77824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896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81328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Réception
des fichiers bruts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148840"/>
            <a:ext cx="193852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CSV OCR · xlsx INSEE · CSV COG
déposés dans 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1993392"/>
            <a:ext cx="82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5B6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40864" y="768096"/>
            <a:ext cx="2103120" cy="26060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2304" y="877824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896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481328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Conversion Python
(dump minimal)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4" y="2148840"/>
            <a:ext cx="193852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prepare_csv_seeds.py
prepare_insee_seed.py
Aucune logique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93392"/>
            <a:ext cx="82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5B6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17136" y="768096"/>
            <a:ext cx="2103120" cy="26060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576" y="877824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896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1481328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Chargement
Snowflake (dbt seed)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2148840"/>
            <a:ext cx="193852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4 seeds → schéma RAW
students_raw · insee_population_raw
cog_departement · cog_region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93392"/>
            <a:ext cx="82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5B6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3408" y="768096"/>
            <a:ext cx="2103120" cy="2606040"/>
          </a:xfrm>
          <a:prstGeom prst="rect">
            <a:avLst/>
          </a:prstGeom>
          <a:solidFill>
            <a:srgbClr val="1F4E79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84848" y="877824"/>
            <a:ext cx="475488" cy="47548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896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1481328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Transformation
dbt (ELT)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148840"/>
            <a:ext cx="193852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dbtf build
Staging → Intermediate → Mart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529584"/>
            <a:ext cx="914400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3648456"/>
            <a:ext cx="8823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POURQUOI ELT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4023360"/>
            <a:ext cx="8823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595959"/>
                </a:solidFill>
                <a:latin typeface="Calibri"/>
              </a:rPr>
              <a:t>● Python charge d'abord (Load) — puis dbt transforme dans Snowflake (Transform). Toute la logique SQL est versionnée.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595959"/>
                </a:solidFill>
                <a:latin typeface="Calibri"/>
              </a:rPr>
              <a:t>● Reproductible : un seul dbtf build reconstruit de bout en bout. Nouveau fichier OCR / INSEE → relancer imports + build.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Architecture du pipeline dbt</a:t>
            </a:r>
          </a:p>
        </p:txBody>
      </p:sp>
      <p:pic>
        <p:nvPicPr>
          <p:cNvPr id="5" name="Picture 4" descr="graph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69" y="841248"/>
            <a:ext cx="8713261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Enjeux qualité identifiés &amp; solutions dbt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749808"/>
          <a:ext cx="874166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00784"/>
                <a:gridCol w="493776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Problème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 dans le pipeline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Genre manquant (~27 % en 2022)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Biais dans les ratios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Catégorie 'Non renseigné' — pas d'imputation (RGPD)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DROM sans données INSEE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par département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Population agrégée, moins granulaire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Agrégat DOM INSEE → DROM via CASE SQL — inclus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Tranches âge INSEE 60-64, 65-69…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≠ OCR (60+)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Jointure impossible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Rollup SQL en intermediate → '60 ans ou plus'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Libellés âge INSEE avec underscores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 préfixe genre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Matching incorrect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Strip préfixe + REPLACE en staging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Double comptage DOM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(depts 971-976 + agrégat)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Surreprésentation DROM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Depts 971-976 exclus — seul agrégat 'DOM' conservé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USER_ID longitudinal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(même étudiant, plusieurs années)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Faux doublons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Données longitudinales documentées + test singulier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Tests dbt &amp; garantie de reproductibilité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STRATÉGIE PAR COUCHE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169164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1609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Sources (RAW)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256" y="128016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not_null sur clé primaire — sanity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47088"/>
            <a:ext cx="169164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38528"/>
            <a:ext cx="1609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95681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not_null · unique · accepted_values ·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23744"/>
            <a:ext cx="169164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615184"/>
            <a:ext cx="1609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263347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not_null · unique · accepted_values · relationships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200400"/>
            <a:ext cx="169164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291840"/>
            <a:ext cx="1609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Mart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331012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not_null · accepted_values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77056"/>
            <a:ext cx="169164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968496"/>
            <a:ext cx="1609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Test singulier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8256" y="398678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3 tests singuliers — longitudinal, régions, géographie INSEE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731520"/>
            <a:ext cx="36576" cy="4297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7680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REPRODUCTIBILITÉ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170432"/>
            <a:ext cx="3840480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1225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Si : Nouvelle région apparaît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accepted_values échoue · pipeline bloqué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975104"/>
            <a:ext cx="3840480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Si : USER_ID dupliqué dans une année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3408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test singulier échoue · pipeline bloqué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779776"/>
            <a:ext cx="3840480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Si : Jointure COG rompue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145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relationships échoue · pipeline bloqué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584448"/>
            <a:ext cx="3840480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3639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Si : Nouveau fichier OCR / INSEE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run_all_imports + dbtf build · rebuild complet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462272"/>
            <a:ext cx="8686800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581144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dbtf build  ·  seeds + modèles + tests en une commande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Résultats — Concentration régionale &amp; évolution des inscriptions</a:t>
            </a:r>
          </a:p>
        </p:txBody>
      </p:sp>
      <p:pic>
        <p:nvPicPr>
          <p:cNvPr id="5" name="Picture 4" descr="graph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68096"/>
            <a:ext cx="5394960" cy="2046460"/>
          </a:xfrm>
          <a:prstGeom prst="rect">
            <a:avLst/>
          </a:prstGeom>
        </p:spPr>
      </p:pic>
      <p:pic>
        <p:nvPicPr>
          <p:cNvPr id="6" name="Picture 5" descr="graph_yea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68096"/>
            <a:ext cx="3383280" cy="16702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4592" y="4041648"/>
            <a:ext cx="87782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4151376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▶ IDF : 45,6 % des inscriptions cumulées 2022–2025.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▶ Baisse 2022→2024 (−50 %), rebond 2025 (+12 %). ▶ Île-de-France concentre ~8× plus d'inscrits que la 2ème région.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Résultats — Genre &amp; qualité de la donnée</a:t>
            </a:r>
          </a:p>
        </p:txBody>
      </p:sp>
      <p:pic>
        <p:nvPicPr>
          <p:cNvPr id="5" name="Picture 4" descr="graph_nr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68096"/>
            <a:ext cx="5212080" cy="2573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822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225296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● Amélioration spectaculaire de la qualité de collecte du genre sur 4 ans.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● 41,6 % → 6,7 % : cette tendance est un indicateur de pilotage qualité en soi.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● À maintenir : incitations à la saisie lors de l'inscription.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3840480"/>
            <a:ext cx="3291840" cy="118872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2" y="39319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Répartition avec genre renseigné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4315968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200" b="0">
                <a:solidFill>
                  <a:srgbClr val="1F4E79"/>
                </a:solidFill>
                <a:latin typeface="Calibri"/>
              </a:rPr>
              <a:t>● Hommes : ~69 % des inscrits renseignés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200" b="0">
                <a:solidFill>
                  <a:srgbClr val="1F4E79"/>
                </a:solidFill>
                <a:latin typeface="Calibri"/>
              </a:rPr>
              <a:t>● Femmes : ~31 % — sous-représentation persistante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Résultats — Taux d'inscription pour 100 000 habitants</a:t>
            </a:r>
          </a:p>
        </p:txBody>
      </p:sp>
      <p:pic>
        <p:nvPicPr>
          <p:cNvPr id="5" name="Picture 4" descr="graph_10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68096"/>
            <a:ext cx="6309360" cy="2394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56832" y="822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6832" y="1225296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>● IDF domine encore plus après normalisation (~6,8 / 100k).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>● ARA, 2ème en effectifs bruts, descend à la 7ème place.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>● PACA et Centre-Val de Loire dépassent leur part d'effectifs bruts.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00" b="0">
                <a:solidFill>
                  <a:srgbClr val="262626"/>
                </a:solidFill>
                <a:latin typeface="Calibri"/>
              </a:rPr>
              <a:t>● Les effectifs bruts seuls sont trompeurs.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Recommandations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86384"/>
            <a:ext cx="4041648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786384"/>
            <a:ext cx="530352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9264"/>
            <a:ext cx="3310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Creuser la concentration 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Analyser via le taux /100k, pas seulement les effectifs bruts. Identifier si c'est une sur-représentation réelle ou un effet de taille.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786384"/>
            <a:ext cx="4041648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786384"/>
            <a:ext cx="530352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361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969264"/>
            <a:ext cx="3310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Maintenir les incitations à la saisie du genre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46304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La tendance 41 % → 7 % est très positive. Maintenir les dispositifs qui ont produit cette amélioration.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2926080"/>
            <a:ext cx="4041648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2926080"/>
            <a:ext cx="530352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6758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08960"/>
            <a:ext cx="3310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Diversifier le recrutement géographique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02736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PACA et Centre-Val de Loire affichent un taux /100k supérieur à leur part d'effectifs bruts — des viviers sous-exploités. Cibler ces régions pourrait rééquilibrer la concentration IDF.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926080"/>
            <a:ext cx="4041648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2926080"/>
            <a:ext cx="530352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6758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3108960"/>
            <a:ext cx="3310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Industrialiser le rebuild annuel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602736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À chaque nouveau fichier OCR ou mise à jour INSEE : run_all_imports.py + dbtf build. Le pipeline est prêt.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Livrables produits &amp;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86384"/>
            <a:ext cx="2743200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786384"/>
            <a:ext cx="2743200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22960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841248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CSV consolidé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371600"/>
            <a:ext cx="256032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mart_profil_sociodemographique.csv
Grain : année × région × genre × âge
1 742 lignes · 7 colonnes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8" y="786384"/>
            <a:ext cx="2743200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81528" y="786384"/>
            <a:ext cx="2743200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822960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841248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Workflow dbt commenté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1371600"/>
            <a:ext cx="256032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GitHub + dbt Cloud opérationnel
SQL commenté · tests justifiés
Doc blocks dbt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786384"/>
            <a:ext cx="2743200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786384"/>
            <a:ext cx="2743200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822960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841248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Cette présentation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1371600"/>
            <a:ext cx="256032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12 slides · plan mentor-validé
Graphiques depuis le mart
Reproductible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2834640"/>
            <a:ext cx="8741664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44368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Pipeline reproductible :   python scripts/run_all_imports.py   →   dbtf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511296"/>
            <a:ext cx="8741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QUESTIONS PROBABLES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3877056"/>
            <a:ext cx="874166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90448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Q : Valeurs manquantes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078224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 Genre → catégorie 'Non renseigné' documentée — zéro NULL en sortie de staging.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4297680"/>
            <a:ext cx="874166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3251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Q : Tests dbt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498848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 Stratégie par couche + test singulier longitudinal + relationships.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718304"/>
            <a:ext cx="874166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74573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Q : Reproductibilité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→  Tests bloquants + seeds versionnés + dbtf build suffit.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8 OCR — Analyse Sociodémographique</dc:title>
  <dc:subject>PptxGenJS Presentation</dc:subject>
  <dc:creator>PptxGenJS</dc:creator>
  <cp:lastModifiedBy>PptxGenJS</cp:lastModifiedBy>
  <cp:revision>1</cp:revision>
  <dcterms:created xsi:type="dcterms:W3CDTF">2026-06-07T16:16:14Z</dcterms:created>
  <dcterms:modified xsi:type="dcterms:W3CDTF">2026-06-07T16:16:14Z</dcterms:modified>
</cp:coreProperties>
</file>